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Invisible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Base
Metric</c:v>
                </c:pt>
                <c:pt idx="1">
                  <c:v>Distribution
Effect (Mix)</c:v>
                </c:pt>
                <c:pt idx="2">
                  <c:v>Relationship
Effect (Rate)</c:v>
                </c:pt>
                <c:pt idx="3">
                  <c:v>Compare
Metric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0.058</c:v>
                </c:pt>
                <c:pt idx="2">
                  <c:v>0.0725725974462093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Visible</c:v>
                </c:pt>
              </c:strCache>
            </c:strRef>
          </c:tx>
          <c:dPt>
            <c:idx val="0"/>
            <c:spPr>
              <a:solidFill>
                <a:srgbClr val="55A868"/>
              </a:solidFill>
            </c:spPr>
          </c:dPt>
          <c:dPt>
            <c:idx val="1"/>
            <c:spPr>
              <a:solidFill>
                <a:srgbClr val="4C72B0"/>
              </a:solidFill>
            </c:spPr>
          </c:dPt>
          <c:dPt>
            <c:idx val="2"/>
            <c:spPr>
              <a:solidFill>
                <a:srgbClr val="DD8452"/>
              </a:solidFill>
            </c:spPr>
          </c:dPt>
          <c:dPt>
            <c:idx val="3"/>
            <c:spPr>
              <a:solidFill>
                <a:srgbClr val="C44E52"/>
              </a:solidFill>
            </c:spPr>
          </c:dPt>
          <c:dLbls>
            <c:numFmt formatCode="0.0000" sourceLinked="0"/>
            <c:txPr>
              <a:bodyPr/>
              <a:lstStyle/>
              <a:p>
                <a:pPr>
                  <a:defRPr sz="1100" b="1">
                    <a:solidFill>
                      <a:srgbClr val="1B1B2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
Metric</c:v>
                </c:pt>
                <c:pt idx="1">
                  <c:v>Distribution
Effect (Mix)</c:v>
                </c:pt>
                <c:pt idx="2">
                  <c:v>Relationship
Effect (Rate)</c:v>
                </c:pt>
                <c:pt idx="3">
                  <c:v>Compare
Metric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0.058</c:v>
                </c:pt>
                <c:pt idx="1">
                  <c:v>0.014572597446209291</c:v>
                </c:pt>
                <c:pt idx="2">
                  <c:v>0.0988274025537907</c:v>
                </c:pt>
                <c:pt idx="3">
                  <c:v>0.1714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Mix Effect</c:v>
                </c:pt>
              </c:strCache>
            </c:strRef>
          </c:tx>
          <c:spPr>
            <a:solidFill>
              <a:srgbClr val="4C72B0"/>
            </a:solidFill>
          </c:spPr>
          <c:cat>
            <c:strRef>
              <c:f>Sheet1!$A$2:$A$10</c:f>
              <c:strCache>
                <c:ptCount val="9"/>
                <c:pt idx="0">
                  <c:v>credit_score</c:v>
                </c:pt>
                <c:pt idx="1">
                  <c:v>dti</c:v>
                </c:pt>
                <c:pt idx="2">
                  <c:v>employment_years</c:v>
                </c:pt>
                <c:pt idx="3">
                  <c:v>income</c:v>
                </c:pt>
                <c:pt idx="4">
                  <c:v>loan_amount</c:v>
                </c:pt>
                <c:pt idx="5">
                  <c:v>loan_purpose</c:v>
                </c:pt>
                <c:pt idx="6">
                  <c:v>loan_term</c:v>
                </c:pt>
                <c:pt idx="7">
                  <c:v>ltv</c:v>
                </c:pt>
                <c:pt idx="8">
                  <c:v>region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0.016886</c:v>
                </c:pt>
                <c:pt idx="1">
                  <c:v>0.000868</c:v>
                </c:pt>
                <c:pt idx="2">
                  <c:v>-2.1e-05</c:v>
                </c:pt>
                <c:pt idx="3">
                  <c:v>8.6e-05</c:v>
                </c:pt>
                <c:pt idx="4">
                  <c:v>-7.5e-05</c:v>
                </c:pt>
                <c:pt idx="5">
                  <c:v>-0.000138</c:v>
                </c:pt>
                <c:pt idx="6">
                  <c:v>1.5e-05</c:v>
                </c:pt>
                <c:pt idx="7">
                  <c:v>-0.001373</c:v>
                </c:pt>
                <c:pt idx="8">
                  <c:v>-2.3e-05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Rate Effect</c:v>
                </c:pt>
              </c:strCache>
            </c:strRef>
          </c:tx>
          <c:spPr>
            <a:solidFill>
              <a:srgbClr val="DD8452"/>
            </a:solidFill>
          </c:spPr>
          <c:cat>
            <c:strRef>
              <c:f>Sheet1!$A$2:$A$10</c:f>
              <c:strCache>
                <c:ptCount val="9"/>
                <c:pt idx="0">
                  <c:v>credit_score</c:v>
                </c:pt>
                <c:pt idx="1">
                  <c:v>dti</c:v>
                </c:pt>
                <c:pt idx="2">
                  <c:v>employment_years</c:v>
                </c:pt>
                <c:pt idx="3">
                  <c:v>income</c:v>
                </c:pt>
                <c:pt idx="4">
                  <c:v>loan_amount</c:v>
                </c:pt>
                <c:pt idx="5">
                  <c:v>loan_purpose</c:v>
                </c:pt>
                <c:pt idx="6">
                  <c:v>loan_term</c:v>
                </c:pt>
                <c:pt idx="7">
                  <c:v>ltv</c:v>
                </c:pt>
                <c:pt idx="8">
                  <c:v>region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0.096514</c:v>
                </c:pt>
                <c:pt idx="1">
                  <c:v>0.112532</c:v>
                </c:pt>
                <c:pt idx="2">
                  <c:v>0.113421</c:v>
                </c:pt>
                <c:pt idx="3">
                  <c:v>0.113314</c:v>
                </c:pt>
                <c:pt idx="4">
                  <c:v>0.113475</c:v>
                </c:pt>
                <c:pt idx="5">
                  <c:v>0.113538</c:v>
                </c:pt>
                <c:pt idx="6">
                  <c:v>0.113385</c:v>
                </c:pt>
                <c:pt idx="7">
                  <c:v>0.114773</c:v>
                </c:pt>
                <c:pt idx="8">
                  <c:v>0.113423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Weight</c:v>
                </c:pt>
              </c:strCache>
            </c:strRef>
          </c:tx>
          <c:spPr>
            <a:solidFill>
              <a:srgbClr val="55A868"/>
            </a:solidFill>
          </c:spPr>
          <c:cat>
            <c:strRef>
              <c:f>Sheet1!$A$2:$A$6</c:f>
              <c:strCache>
                <c:ptCount val="5"/>
                <c:pt idx="0">
                  <c:v>(481, 637]</c:v>
                </c:pt>
                <c:pt idx="1">
                  <c:v>(637, 666]</c:v>
                </c:pt>
                <c:pt idx="2">
                  <c:v>(666, 692]</c:v>
                </c:pt>
                <c:pt idx="3">
                  <c:v>(692, 719]</c:v>
                </c:pt>
                <c:pt idx="4">
                  <c:v>(719, 850]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0.2044</c:v>
                </c:pt>
                <c:pt idx="1">
                  <c:v>0.1958</c:v>
                </c:pt>
                <c:pt idx="2">
                  <c:v>0.2072</c:v>
                </c:pt>
                <c:pt idx="3">
                  <c:v>0.1942</c:v>
                </c:pt>
                <c:pt idx="4">
                  <c:v>0.1984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Weight</c:v>
                </c:pt>
              </c:strCache>
            </c:strRef>
          </c:tx>
          <c:spPr>
            <a:solidFill>
              <a:srgbClr val="C44E52"/>
            </a:solidFill>
          </c:spPr>
          <c:cat>
            <c:strRef>
              <c:f>Sheet1!$A$2:$A$6</c:f>
              <c:strCache>
                <c:ptCount val="5"/>
                <c:pt idx="0">
                  <c:v>(481, 637]</c:v>
                </c:pt>
                <c:pt idx="1">
                  <c:v>(637, 666]</c:v>
                </c:pt>
                <c:pt idx="2">
                  <c:v>(666, 692]</c:v>
                </c:pt>
                <c:pt idx="3">
                  <c:v>(692, 719]</c:v>
                </c:pt>
                <c:pt idx="4">
                  <c:v>(719, 850]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0.3274</c:v>
                </c:pt>
                <c:pt idx="1">
                  <c:v>0.2132</c:v>
                </c:pt>
                <c:pt idx="2">
                  <c:v>0.203</c:v>
                </c:pt>
                <c:pt idx="3">
                  <c:v>0.1336</c:v>
                </c:pt>
                <c:pt idx="4">
                  <c:v>0.1228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Metric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ln w="31750">
              <a:solidFill>
                <a:srgbClr val="55A86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(481, 637]</c:v>
                </c:pt>
                <c:pt idx="1">
                  <c:v>(637, 666]</c:v>
                </c:pt>
                <c:pt idx="2">
                  <c:v>(666, 692]</c:v>
                </c:pt>
                <c:pt idx="3">
                  <c:v>(692, 719]</c:v>
                </c:pt>
                <c:pt idx="4">
                  <c:v>(719, 850]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0.143836</c:v>
                </c:pt>
                <c:pt idx="1">
                  <c:v>0.066394</c:v>
                </c:pt>
                <c:pt idx="2">
                  <c:v>0.049228</c:v>
                </c:pt>
                <c:pt idx="3">
                  <c:v>0.022657</c:v>
                </c:pt>
                <c:pt idx="4">
                  <c:v>0.00504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Rate</c:v>
                </c:pt>
              </c:strCache>
            </c:strRef>
          </c:tx>
          <c:spPr>
            <a:ln w="31750">
              <a:solidFill>
                <a:srgbClr val="C44E52"/>
              </a:solidFill>
            </a:ln>
          </c:spPr>
          <c:marker>
            <c:symbol val="square"/>
            <c:size val="8"/>
          </c:marker>
          <c:cat>
            <c:strRef>
              <c:f>Sheet1!$A$2:$A$6</c:f>
              <c:strCache>
                <c:ptCount val="5"/>
                <c:pt idx="0">
                  <c:v>(481, 637]</c:v>
                </c:pt>
                <c:pt idx="1">
                  <c:v>(637, 666]</c:v>
                </c:pt>
                <c:pt idx="2">
                  <c:v>(666, 692]</c:v>
                </c:pt>
                <c:pt idx="3">
                  <c:v>(692, 719]</c:v>
                </c:pt>
                <c:pt idx="4">
                  <c:v>(719, 850]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0.350641</c:v>
                </c:pt>
                <c:pt idx="1">
                  <c:v>0.165103</c:v>
                </c:pt>
                <c:pt idx="2">
                  <c:v>0.069951</c:v>
                </c:pt>
                <c:pt idx="3">
                  <c:v>0.037425</c:v>
                </c:pt>
                <c:pt idx="4">
                  <c:v>0.017915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Predicted Compare</c:v>
                </c:pt>
              </c:strCache>
            </c:strRef>
          </c:tx>
          <c:spPr>
            <a:ln w="25400">
              <a:solidFill>
                <a:srgbClr val="8172B3"/>
              </a:solidFill>
              <a:prstDash val="dash"/>
            </a:ln>
          </c:spPr>
          <c:marker>
            <c:symbol val="triangle"/>
            <c:size val="7"/>
          </c:marker>
          <c:cat>
            <c:strRef>
              <c:f>Sheet1!$A$2:$A$6</c:f>
              <c:strCache>
                <c:ptCount val="5"/>
                <c:pt idx="0">
                  <c:v>(481, 637]</c:v>
                </c:pt>
                <c:pt idx="1">
                  <c:v>(637, 666]</c:v>
                </c:pt>
                <c:pt idx="2">
                  <c:v>(666, 692]</c:v>
                </c:pt>
                <c:pt idx="3">
                  <c:v>(692, 719]</c:v>
                </c:pt>
                <c:pt idx="4">
                  <c:v>(719, 850]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0.136897</c:v>
                </c:pt>
                <c:pt idx="1">
                  <c:v>0.067696</c:v>
                </c:pt>
                <c:pt idx="2">
                  <c:v>0.050201</c:v>
                </c:pt>
                <c:pt idx="3">
                  <c:v>0.019378</c:v>
                </c:pt>
                <c:pt idx="4">
                  <c:v>0.004398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Weight</c:v>
                </c:pt>
              </c:strCache>
            </c:strRef>
          </c:tx>
          <c:spPr>
            <a:solidFill>
              <a:srgbClr val="55A868"/>
            </a:solidFill>
          </c:spPr>
          <c:cat>
            <c:strRef>
              <c:f>Sheet1!$A$2:$A$6</c:f>
              <c:strCache>
                <c:ptCount val="5"/>
                <c:pt idx="0">
                  <c:v>(0.04072, 8.201]</c:v>
                </c:pt>
                <c:pt idx="1">
                  <c:v>(13.38, 18.67]</c:v>
                </c:pt>
                <c:pt idx="2">
                  <c:v>(18.67, 25.56]</c:v>
                </c:pt>
                <c:pt idx="3">
                  <c:v>(25.56, 58.87]</c:v>
                </c:pt>
                <c:pt idx="4">
                  <c:v>(8.201, 13.38]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Weight</c:v>
                </c:pt>
              </c:strCache>
            </c:strRef>
          </c:tx>
          <c:spPr>
            <a:solidFill>
              <a:srgbClr val="C44E52"/>
            </a:solidFill>
          </c:spPr>
          <c:cat>
            <c:strRef>
              <c:f>Sheet1!$A$2:$A$6</c:f>
              <c:strCache>
                <c:ptCount val="5"/>
                <c:pt idx="0">
                  <c:v>(0.04072, 8.201]</c:v>
                </c:pt>
                <c:pt idx="1">
                  <c:v>(13.38, 18.67]</c:v>
                </c:pt>
                <c:pt idx="2">
                  <c:v>(18.67, 25.56]</c:v>
                </c:pt>
                <c:pt idx="3">
                  <c:v>(25.56, 58.87]</c:v>
                </c:pt>
                <c:pt idx="4">
                  <c:v>(8.201, 13.38]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0.1522</c:v>
                </c:pt>
                <c:pt idx="1">
                  <c:v>0.1786</c:v>
                </c:pt>
                <c:pt idx="2">
                  <c:v>0.2038</c:v>
                </c:pt>
                <c:pt idx="3">
                  <c:v>0.286</c:v>
                </c:pt>
                <c:pt idx="4">
                  <c:v>0.1794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Metric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ln w="31750">
              <a:solidFill>
                <a:srgbClr val="55A86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(0.04072, 8.201]</c:v>
                </c:pt>
                <c:pt idx="1">
                  <c:v>(13.38, 18.67]</c:v>
                </c:pt>
                <c:pt idx="2">
                  <c:v>(18.67, 25.56]</c:v>
                </c:pt>
                <c:pt idx="3">
                  <c:v>(25.56, 58.87]</c:v>
                </c:pt>
                <c:pt idx="4">
                  <c:v>(8.201, 13.38]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0.054</c:v>
                </c:pt>
                <c:pt idx="1">
                  <c:v>0.051</c:v>
                </c:pt>
                <c:pt idx="2">
                  <c:v>0.067</c:v>
                </c:pt>
                <c:pt idx="3">
                  <c:v>0.063</c:v>
                </c:pt>
                <c:pt idx="4">
                  <c:v>0.055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Rate</c:v>
                </c:pt>
              </c:strCache>
            </c:strRef>
          </c:tx>
          <c:spPr>
            <a:ln w="31750">
              <a:solidFill>
                <a:srgbClr val="C44E52"/>
              </a:solidFill>
            </a:ln>
          </c:spPr>
          <c:marker>
            <c:symbol val="square"/>
            <c:size val="8"/>
          </c:marker>
          <c:cat>
            <c:strRef>
              <c:f>Sheet1!$A$2:$A$6</c:f>
              <c:strCache>
                <c:ptCount val="5"/>
                <c:pt idx="0">
                  <c:v>(0.04072, 8.201]</c:v>
                </c:pt>
                <c:pt idx="1">
                  <c:v>(13.38, 18.67]</c:v>
                </c:pt>
                <c:pt idx="2">
                  <c:v>(18.67, 25.56]</c:v>
                </c:pt>
                <c:pt idx="3">
                  <c:v>(25.56, 58.87]</c:v>
                </c:pt>
                <c:pt idx="4">
                  <c:v>(8.201, 13.38]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0.159001</c:v>
                </c:pt>
                <c:pt idx="1">
                  <c:v>0.178052</c:v>
                </c:pt>
                <c:pt idx="2">
                  <c:v>0.161923</c:v>
                </c:pt>
                <c:pt idx="3">
                  <c:v>0.197902</c:v>
                </c:pt>
                <c:pt idx="4">
                  <c:v>0.143813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Predicted Compare</c:v>
                </c:pt>
              </c:strCache>
            </c:strRef>
          </c:tx>
          <c:spPr>
            <a:ln w="25400">
              <a:solidFill>
                <a:srgbClr val="8172B3"/>
              </a:solidFill>
              <a:prstDash val="dash"/>
            </a:ln>
          </c:spPr>
          <c:marker>
            <c:symbol val="triangle"/>
            <c:size val="7"/>
          </c:marker>
          <c:cat>
            <c:strRef>
              <c:f>Sheet1!$A$2:$A$6</c:f>
              <c:strCache>
                <c:ptCount val="5"/>
                <c:pt idx="0">
                  <c:v>(0.04072, 8.201]</c:v>
                </c:pt>
                <c:pt idx="1">
                  <c:v>(13.38, 18.67]</c:v>
                </c:pt>
                <c:pt idx="2">
                  <c:v>(18.67, 25.56]</c:v>
                </c:pt>
                <c:pt idx="3">
                  <c:v>(25.56, 58.87]</c:v>
                </c:pt>
                <c:pt idx="4">
                  <c:v>(8.201, 13.38]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0.066653</c:v>
                </c:pt>
                <c:pt idx="1">
                  <c:v>0.065231</c:v>
                </c:pt>
                <c:pt idx="2">
                  <c:v>0.075555</c:v>
                </c:pt>
                <c:pt idx="3">
                  <c:v>0.079768</c:v>
                </c:pt>
                <c:pt idx="4">
                  <c:v>0.070045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Weight</c:v>
                </c:pt>
              </c:strCache>
            </c:strRef>
          </c:tx>
          <c:spPr>
            <a:solidFill>
              <a:srgbClr val="55A868"/>
            </a:solidFill>
          </c:spPr>
          <c:cat>
            <c:strRef>
              <c:f>Sheet1!$A$2:$A$6</c:f>
              <c:strCache>
                <c:ptCount val="5"/>
                <c:pt idx="0">
                  <c:v>(-1e-08, 1.2]</c:v>
                </c:pt>
                <c:pt idx="1">
                  <c:v>(1.2, 2.7]</c:v>
                </c:pt>
                <c:pt idx="2">
                  <c:v>(2.7, 4.6]</c:v>
                </c:pt>
                <c:pt idx="3">
                  <c:v>(4.6, 8]</c:v>
                </c:pt>
                <c:pt idx="4">
                  <c:v>(8, 40]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0.2152</c:v>
                </c:pt>
                <c:pt idx="1">
                  <c:v>0.1976</c:v>
                </c:pt>
                <c:pt idx="2">
                  <c:v>0.1874</c:v>
                </c:pt>
                <c:pt idx="3">
                  <c:v>0.2024</c:v>
                </c:pt>
                <c:pt idx="4">
                  <c:v>0.1974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Weight</c:v>
                </c:pt>
              </c:strCache>
            </c:strRef>
          </c:tx>
          <c:spPr>
            <a:solidFill>
              <a:srgbClr val="C44E52"/>
            </a:solidFill>
          </c:spPr>
          <c:cat>
            <c:strRef>
              <c:f>Sheet1!$A$2:$A$6</c:f>
              <c:strCache>
                <c:ptCount val="5"/>
                <c:pt idx="0">
                  <c:v>(-1e-08, 1.2]</c:v>
                </c:pt>
                <c:pt idx="1">
                  <c:v>(1.2, 2.7]</c:v>
                </c:pt>
                <c:pt idx="2">
                  <c:v>(2.7, 4.6]</c:v>
                </c:pt>
                <c:pt idx="3">
                  <c:v>(4.6, 8]</c:v>
                </c:pt>
                <c:pt idx="4">
                  <c:v>(8, 40]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0.2176</c:v>
                </c:pt>
                <c:pt idx="1">
                  <c:v>0.2</c:v>
                </c:pt>
                <c:pt idx="2">
                  <c:v>0.178</c:v>
                </c:pt>
                <c:pt idx="3">
                  <c:v>0.1964</c:v>
                </c:pt>
                <c:pt idx="4">
                  <c:v>0.208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Metric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ln w="31750">
              <a:solidFill>
                <a:srgbClr val="55A86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(-1e-08, 1.2]</c:v>
                </c:pt>
                <c:pt idx="1">
                  <c:v>(1.2, 2.7]</c:v>
                </c:pt>
                <c:pt idx="2">
                  <c:v>(2.7, 4.6]</c:v>
                </c:pt>
                <c:pt idx="3">
                  <c:v>(4.6, 8]</c:v>
                </c:pt>
                <c:pt idx="4">
                  <c:v>(8, 40]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0.052974</c:v>
                </c:pt>
                <c:pt idx="1">
                  <c:v>0.071862</c:v>
                </c:pt>
                <c:pt idx="2">
                  <c:v>0.058698</c:v>
                </c:pt>
                <c:pt idx="3">
                  <c:v>0.054348</c:v>
                </c:pt>
                <c:pt idx="4">
                  <c:v>0.052685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Rate</c:v>
                </c:pt>
              </c:strCache>
            </c:strRef>
          </c:tx>
          <c:spPr>
            <a:ln w="31750">
              <a:solidFill>
                <a:srgbClr val="C44E52"/>
              </a:solidFill>
            </a:ln>
          </c:spPr>
          <c:marker>
            <c:symbol val="square"/>
            <c:size val="8"/>
          </c:marker>
          <c:cat>
            <c:strRef>
              <c:f>Sheet1!$A$2:$A$6</c:f>
              <c:strCache>
                <c:ptCount val="5"/>
                <c:pt idx="0">
                  <c:v>(-1e-08, 1.2]</c:v>
                </c:pt>
                <c:pt idx="1">
                  <c:v>(1.2, 2.7]</c:v>
                </c:pt>
                <c:pt idx="2">
                  <c:v>(2.7, 4.6]</c:v>
                </c:pt>
                <c:pt idx="3">
                  <c:v>(4.6, 8]</c:v>
                </c:pt>
                <c:pt idx="4">
                  <c:v>(8, 40]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0.164522</c:v>
                </c:pt>
                <c:pt idx="1">
                  <c:v>0.181</c:v>
                </c:pt>
                <c:pt idx="2">
                  <c:v>0.191011</c:v>
                </c:pt>
                <c:pt idx="3">
                  <c:v>0.165988</c:v>
                </c:pt>
                <c:pt idx="4">
                  <c:v>0.157692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Predicted Compare</c:v>
                </c:pt>
              </c:strCache>
            </c:strRef>
          </c:tx>
          <c:spPr>
            <a:ln w="25400">
              <a:solidFill>
                <a:srgbClr val="8172B3"/>
              </a:solidFill>
              <a:prstDash val="dash"/>
            </a:ln>
          </c:spPr>
          <c:marker>
            <c:symbol val="triangle"/>
            <c:size val="7"/>
          </c:marker>
          <c:cat>
            <c:strRef>
              <c:f>Sheet1!$A$2:$A$6</c:f>
              <c:strCache>
                <c:ptCount val="5"/>
                <c:pt idx="0">
                  <c:v>(-1e-08, 1.2]</c:v>
                </c:pt>
                <c:pt idx="1">
                  <c:v>(1.2, 2.7]</c:v>
                </c:pt>
                <c:pt idx="2">
                  <c:v>(2.7, 4.6]</c:v>
                </c:pt>
                <c:pt idx="3">
                  <c:v>(4.6, 8]</c:v>
                </c:pt>
                <c:pt idx="4">
                  <c:v>(8, 40]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0.068455</c:v>
                </c:pt>
                <c:pt idx="1">
                  <c:v>0.082608</c:v>
                </c:pt>
                <c:pt idx="2">
                  <c:v>0.077447</c:v>
                </c:pt>
                <c:pt idx="3">
                  <c:v>0.070853</c:v>
                </c:pt>
                <c:pt idx="4">
                  <c:v>0.064684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Weight</c:v>
                </c:pt>
              </c:strCache>
            </c:strRef>
          </c:tx>
          <c:spPr>
            <a:solidFill>
              <a:srgbClr val="55A868"/>
            </a:solidFill>
          </c:spPr>
          <c:cat>
            <c:strRef>
              <c:f>Sheet1!$A$2:$A$6</c:f>
              <c:strCache>
                <c:ptCount val="5"/>
                <c:pt idx="0">
                  <c:v>(3.972e+04, 5.279e+04]</c:v>
                </c:pt>
                <c:pt idx="1">
                  <c:v>(5.279e+04, 6.707e+04]</c:v>
                </c:pt>
                <c:pt idx="2">
                  <c:v>(6.707e+04, 9.007e+04]</c:v>
                </c:pt>
                <c:pt idx="3">
                  <c:v>(8490, 3.972e+04]</c:v>
                </c:pt>
                <c:pt idx="4">
                  <c:v>(9.007e+04, 3.866e+05]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Weight</c:v>
                </c:pt>
              </c:strCache>
            </c:strRef>
          </c:tx>
          <c:spPr>
            <a:solidFill>
              <a:srgbClr val="C44E52"/>
            </a:solidFill>
          </c:spPr>
          <c:cat>
            <c:strRef>
              <c:f>Sheet1!$A$2:$A$6</c:f>
              <c:strCache>
                <c:ptCount val="5"/>
                <c:pt idx="0">
                  <c:v>(3.972e+04, 5.279e+04]</c:v>
                </c:pt>
                <c:pt idx="1">
                  <c:v>(5.279e+04, 6.707e+04]</c:v>
                </c:pt>
                <c:pt idx="2">
                  <c:v>(6.707e+04, 9.007e+04]</c:v>
                </c:pt>
                <c:pt idx="3">
                  <c:v>(8490, 3.972e+04]</c:v>
                </c:pt>
                <c:pt idx="4">
                  <c:v>(9.007e+04, 3.866e+05]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0.1892</c:v>
                </c:pt>
                <c:pt idx="1">
                  <c:v>0.1874</c:v>
                </c:pt>
                <c:pt idx="2">
                  <c:v>0.206</c:v>
                </c:pt>
                <c:pt idx="3">
                  <c:v>0.212</c:v>
                </c:pt>
                <c:pt idx="4">
                  <c:v>0.2054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Metric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ln w="31750">
              <a:solidFill>
                <a:srgbClr val="55A86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(3.972e+04, 5.279e+04]</c:v>
                </c:pt>
                <c:pt idx="1">
                  <c:v>(5.279e+04, 6.707e+04]</c:v>
                </c:pt>
                <c:pt idx="2">
                  <c:v>(6.707e+04, 9.007e+04]</c:v>
                </c:pt>
                <c:pt idx="3">
                  <c:v>(8490, 3.972e+04]</c:v>
                </c:pt>
                <c:pt idx="4">
                  <c:v>(9.007e+04, 3.866e+05]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0.057</c:v>
                </c:pt>
                <c:pt idx="1">
                  <c:v>0.056</c:v>
                </c:pt>
                <c:pt idx="2">
                  <c:v>0.06</c:v>
                </c:pt>
                <c:pt idx="3">
                  <c:v>0.063</c:v>
                </c:pt>
                <c:pt idx="4">
                  <c:v>0.054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Rate</c:v>
                </c:pt>
              </c:strCache>
            </c:strRef>
          </c:tx>
          <c:spPr>
            <a:ln w="31750">
              <a:solidFill>
                <a:srgbClr val="C44E52"/>
              </a:solidFill>
            </a:ln>
          </c:spPr>
          <c:marker>
            <c:symbol val="square"/>
            <c:size val="8"/>
          </c:marker>
          <c:cat>
            <c:strRef>
              <c:f>Sheet1!$A$2:$A$6</c:f>
              <c:strCache>
                <c:ptCount val="5"/>
                <c:pt idx="0">
                  <c:v>(3.972e+04, 5.279e+04]</c:v>
                </c:pt>
                <c:pt idx="1">
                  <c:v>(5.279e+04, 6.707e+04]</c:v>
                </c:pt>
                <c:pt idx="2">
                  <c:v>(6.707e+04, 9.007e+04]</c:v>
                </c:pt>
                <c:pt idx="3">
                  <c:v>(8490, 3.972e+04]</c:v>
                </c:pt>
                <c:pt idx="4">
                  <c:v>(9.007e+04, 3.866e+05]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0.164905</c:v>
                </c:pt>
                <c:pt idx="1">
                  <c:v>0.169691</c:v>
                </c:pt>
                <c:pt idx="2">
                  <c:v>0.182524</c:v>
                </c:pt>
                <c:pt idx="3">
                  <c:v>0.174528</c:v>
                </c:pt>
                <c:pt idx="4">
                  <c:v>0.164557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Predicted Compare</c:v>
                </c:pt>
              </c:strCache>
            </c:strRef>
          </c:tx>
          <c:spPr>
            <a:ln w="25400">
              <a:solidFill>
                <a:srgbClr val="8172B3"/>
              </a:solidFill>
              <a:prstDash val="dash"/>
            </a:ln>
          </c:spPr>
          <c:marker>
            <c:symbol val="triangle"/>
            <c:size val="7"/>
          </c:marker>
          <c:cat>
            <c:strRef>
              <c:f>Sheet1!$A$2:$A$6</c:f>
              <c:strCache>
                <c:ptCount val="5"/>
                <c:pt idx="0">
                  <c:v>(3.972e+04, 5.279e+04]</c:v>
                </c:pt>
                <c:pt idx="1">
                  <c:v>(5.279e+04, 6.707e+04]</c:v>
                </c:pt>
                <c:pt idx="2">
                  <c:v>(6.707e+04, 9.007e+04]</c:v>
                </c:pt>
                <c:pt idx="3">
                  <c:v>(8490, 3.972e+04]</c:v>
                </c:pt>
                <c:pt idx="4">
                  <c:v>(9.007e+04, 3.866e+05]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0.072357</c:v>
                </c:pt>
                <c:pt idx="1">
                  <c:v>0.075077</c:v>
                </c:pt>
                <c:pt idx="2">
                  <c:v>0.073598</c:v>
                </c:pt>
                <c:pt idx="3">
                  <c:v>0.075447</c:v>
                </c:pt>
                <c:pt idx="4">
                  <c:v>0.066491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 Weight</c:v>
                </c:pt>
              </c:strCache>
            </c:strRef>
          </c:tx>
          <c:spPr>
            <a:solidFill>
              <a:srgbClr val="55A868"/>
            </a:solidFill>
          </c:spPr>
          <c:cat>
            <c:strRef>
              <c:f>Sheet1!$A$2:$A$6</c:f>
              <c:strCache>
                <c:ptCount val="5"/>
                <c:pt idx="0">
                  <c:v>(2.193e+04, 3.135e+04]</c:v>
                </c:pt>
                <c:pt idx="1">
                  <c:v>(2609, 2.193e+04]</c:v>
                </c:pt>
                <c:pt idx="2">
                  <c:v>(3.135e+04, 4.174e+04]</c:v>
                </c:pt>
                <c:pt idx="3">
                  <c:v>(4.174e+04, 6.042e+04]</c:v>
                </c:pt>
                <c:pt idx="4">
                  <c:v>(6.042e+04, 4.066e+05]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Weight</c:v>
                </c:pt>
              </c:strCache>
            </c:strRef>
          </c:tx>
          <c:spPr>
            <a:solidFill>
              <a:srgbClr val="C44E52"/>
            </a:solidFill>
          </c:spPr>
          <c:cat>
            <c:strRef>
              <c:f>Sheet1!$A$2:$A$6</c:f>
              <c:strCache>
                <c:ptCount val="5"/>
                <c:pt idx="0">
                  <c:v>(2.193e+04, 3.135e+04]</c:v>
                </c:pt>
                <c:pt idx="1">
                  <c:v>(2609, 2.193e+04]</c:v>
                </c:pt>
                <c:pt idx="2">
                  <c:v>(3.135e+04, 4.174e+04]</c:v>
                </c:pt>
                <c:pt idx="3">
                  <c:v>(4.174e+04, 6.042e+04]</c:v>
                </c:pt>
                <c:pt idx="4">
                  <c:v>(6.042e+04, 4.066e+05]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0.2136</c:v>
                </c:pt>
                <c:pt idx="1">
                  <c:v>0.1946</c:v>
                </c:pt>
                <c:pt idx="2">
                  <c:v>0.1948</c:v>
                </c:pt>
                <c:pt idx="3">
                  <c:v>0.207</c:v>
                </c:pt>
                <c:pt idx="4">
                  <c:v>0.19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/>
            </a:pPr>
            <a:r>
              <a:t>Metric Rate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Rate</c:v>
                </c:pt>
              </c:strCache>
            </c:strRef>
          </c:tx>
          <c:spPr>
            <a:ln w="31750">
              <a:solidFill>
                <a:srgbClr val="55A868"/>
              </a:solidFill>
            </a:ln>
          </c:spPr>
          <c:marker>
            <c:symbol val="circle"/>
            <c:size val="8"/>
          </c:marker>
          <c:cat>
            <c:strRef>
              <c:f>Sheet1!$A$2:$A$6</c:f>
              <c:strCache>
                <c:ptCount val="5"/>
                <c:pt idx="0">
                  <c:v>(2.193e+04, 3.135e+04]</c:v>
                </c:pt>
                <c:pt idx="1">
                  <c:v>(2609, 2.193e+04]</c:v>
                </c:pt>
                <c:pt idx="2">
                  <c:v>(3.135e+04, 4.174e+04]</c:v>
                </c:pt>
                <c:pt idx="3">
                  <c:v>(4.174e+04, 6.042e+04]</c:v>
                </c:pt>
                <c:pt idx="4">
                  <c:v>(6.042e+04, 4.066e+05]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0.047</c:v>
                </c:pt>
                <c:pt idx="1">
                  <c:v>0.061</c:v>
                </c:pt>
                <c:pt idx="2">
                  <c:v>0.051</c:v>
                </c:pt>
                <c:pt idx="3">
                  <c:v>0.07</c:v>
                </c:pt>
                <c:pt idx="4">
                  <c:v>0.061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Compare Rate</c:v>
                </c:pt>
              </c:strCache>
            </c:strRef>
          </c:tx>
          <c:spPr>
            <a:ln w="31750">
              <a:solidFill>
                <a:srgbClr val="C44E52"/>
              </a:solidFill>
            </a:ln>
          </c:spPr>
          <c:marker>
            <c:symbol val="square"/>
            <c:size val="8"/>
          </c:marker>
          <c:cat>
            <c:strRef>
              <c:f>Sheet1!$A$2:$A$6</c:f>
              <c:strCache>
                <c:ptCount val="5"/>
                <c:pt idx="0">
                  <c:v>(2.193e+04, 3.135e+04]</c:v>
                </c:pt>
                <c:pt idx="1">
                  <c:v>(2609, 2.193e+04]</c:v>
                </c:pt>
                <c:pt idx="2">
                  <c:v>(3.135e+04, 4.174e+04]</c:v>
                </c:pt>
                <c:pt idx="3">
                  <c:v>(4.174e+04, 6.042e+04]</c:v>
                </c:pt>
                <c:pt idx="4">
                  <c:v>(6.042e+04, 4.066e+05]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0.173221</c:v>
                </c:pt>
                <c:pt idx="1">
                  <c:v>0.15519</c:v>
                </c:pt>
                <c:pt idx="2">
                  <c:v>0.178645</c:v>
                </c:pt>
                <c:pt idx="3">
                  <c:v>0.170048</c:v>
                </c:pt>
                <c:pt idx="4">
                  <c:v>0.18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Predicted Compare</c:v>
                </c:pt>
              </c:strCache>
            </c:strRef>
          </c:tx>
          <c:spPr>
            <a:ln w="25400">
              <a:solidFill>
                <a:srgbClr val="8172B3"/>
              </a:solidFill>
              <a:prstDash val="dash"/>
            </a:ln>
          </c:spPr>
          <c:marker>
            <c:symbol val="triangle"/>
            <c:size val="7"/>
          </c:marker>
          <c:cat>
            <c:strRef>
              <c:f>Sheet1!$A$2:$A$6</c:f>
              <c:strCache>
                <c:ptCount val="5"/>
                <c:pt idx="0">
                  <c:v>(2.193e+04, 3.135e+04]</c:v>
                </c:pt>
                <c:pt idx="1">
                  <c:v>(2609, 2.193e+04]</c:v>
                </c:pt>
                <c:pt idx="2">
                  <c:v>(3.135e+04, 4.174e+04]</c:v>
                </c:pt>
                <c:pt idx="3">
                  <c:v>(4.174e+04, 6.042e+04]</c:v>
                </c:pt>
                <c:pt idx="4">
                  <c:v>(6.042e+04, 4.066e+05]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0.06913</c:v>
                </c:pt>
                <c:pt idx="1">
                  <c:v>0.067204</c:v>
                </c:pt>
                <c:pt idx="2">
                  <c:v>0.063617</c:v>
                </c:pt>
                <c:pt idx="3">
                  <c:v>0.079799</c:v>
                </c:pt>
                <c:pt idx="4">
                  <c:v>0.083251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%</c:v>
                </c:pt>
              </c:strCache>
            </c:strRef>
          </c:tx>
          <c:spPr>
            <a:solidFill>
              <a:srgbClr val="4C72B0"/>
            </a:solidFill>
          </c:spPr>
          <c:dLbls>
            <c:numFmt formatCode="0.0&quot;%&quot;" sourceLinked="0"/>
            <c:txPr>
              <a:bodyPr/>
              <a:lstStyle/>
              <a:p>
                <a:pPr>
                  <a:defRPr sz="10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credit_score</c:v>
                </c:pt>
                <c:pt idx="1">
                  <c:v>ltv</c:v>
                </c:pt>
                <c:pt idx="2">
                  <c:v>income</c:v>
                </c:pt>
                <c:pt idx="3">
                  <c:v>dti</c:v>
                </c:pt>
                <c:pt idx="4">
                  <c:v>loan_amount</c:v>
                </c:pt>
                <c:pt idx="5">
                  <c:v>employment_years</c:v>
                </c:pt>
                <c:pt idx="6">
                  <c:v>loan_term</c:v>
                </c:pt>
                <c:pt idx="7">
                  <c:v>loan_purpose</c:v>
                </c:pt>
                <c:pt idx="8">
                  <c:v>region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18.1</c:v>
                </c:pt>
                <c:pt idx="1">
                  <c:v>15.91</c:v>
                </c:pt>
                <c:pt idx="2">
                  <c:v>15.5</c:v>
                </c:pt>
                <c:pt idx="3">
                  <c:v>15.38</c:v>
                </c:pt>
                <c:pt idx="4">
                  <c:v>14.47</c:v>
                </c:pt>
                <c:pt idx="5">
                  <c:v>12.78</c:v>
                </c:pt>
                <c:pt idx="6">
                  <c:v>4.12</c:v>
                </c:pt>
                <c:pt idx="7">
                  <c:v>2.13</c:v>
                </c:pt>
                <c:pt idx="8">
                  <c:v>1.6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Metric Diagnostics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0D0D0"/>
                </a:solidFill>
                <a:latin typeface="Calibri"/>
              </a:defRPr>
            </a:pPr>
            <a:r>
              <a:t>Target: default_flag   |   Model: LIGHTGBM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926080"/>
            <a:ext cx="6400800" cy="38100"/>
          </a:xfrm>
          <a:prstGeom prst="rect">
            <a:avLst/>
          </a:prstGeom>
          <a:solidFill>
            <a:srgbClr val="4C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5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090"/>
                </a:solidFill>
                <a:latin typeface="Calibri"/>
              </a:defRPr>
            </a:pPr>
            <a:r>
              <a:t>Target Column: default_flag        Model: LIGHTGBM        Features: 9        Base n=5,000        Compare n=5,000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1463040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Base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0.0580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645920"/>
            <a:ext cx="3474720" cy="1463040"/>
          </a:xfrm>
          <a:prstGeom prst="rect">
            <a:avLst/>
          </a:prstGeom>
          <a:solidFill>
            <a:srgbClr val="C44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Compare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0.1714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45920"/>
            <a:ext cx="3474720" cy="1463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8288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Total Diff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+0.1134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3474720" cy="146304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Mix Effect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+0.0146  (+12.9%)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3383280"/>
            <a:ext cx="3474720" cy="1463040"/>
          </a:xfrm>
          <a:prstGeom prst="rect">
            <a:avLst/>
          </a:prstGeom>
          <a:solidFill>
            <a:srgbClr val="DD84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Rate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+0.0988  (+87.1%)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3383280"/>
            <a:ext cx="3474720" cy="1463040"/>
          </a:xfrm>
          <a:prstGeom prst="rect">
            <a:avLst/>
          </a:prstGeom>
          <a:solidFill>
            <a:srgbClr val="817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5661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Model R-sq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0233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0.3981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5F"/>
                </a:solidFill>
                <a:latin typeface="Calibri"/>
              </a:defRPr>
            </a:pPr>
            <a:r>
              <a:t>Overall Decomposition (Waterfall)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Difference = +0.1134   |   Mix = +0.0146 (+12.9%)   |   Rate = +0.0988 (+87.1%)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5F"/>
                </a:solidFill>
                <a:latin typeface="Calibri"/>
              </a:defRPr>
            </a:pPr>
            <a:r>
              <a:t>Variable-Level Drivers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1097280"/>
          <a:ext cx="59436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83680" y="109728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Variable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credit_score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0.016886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0.096514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dti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0.000868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0.112532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employment_years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-0.000021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income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0.000086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0.113314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-0.000075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loan_purpose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-0.000138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0.113538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0.000015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0.113385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-0.001373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0.114773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-0.000023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  <a:latin typeface="Calibri"/>
              </a:defRPr>
            </a:pPr>
            <a:r>
              <a:t>Detail: credit_score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Mix Effect = +0.0169   |   Total Rate Effect = +0.0965   |   Total Effect = +0.1134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 Change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Chg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(481, 637]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1637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0.204400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0.327400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0.143836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0.350641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0.206806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0.017692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0.067708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0.085400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(637, 666]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979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1066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0.195800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0.213200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0.017400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0.066394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0.165103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0.098709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0.001155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0.021045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0.022200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(666, 692]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0.207200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-0.004200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0.049228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0.069951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0.020723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-0.000207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0.004207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0.004000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(692, 719]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971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668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0.194200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0.133600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-0.060600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0.022657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0.037425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0.014768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-0.001373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0.001973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(719, 850]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614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0.198400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0.122800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-0.075600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0.005040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0.017915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0.012875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-0.000381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0.001581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0.001200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0.016886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0.096514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  <a:latin typeface="Calibri"/>
              </a:defRPr>
            </a:pPr>
            <a:r>
              <a:t>Detail: dti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Mix Effect = +0.0009   |   Total Rate Effect = +0.1125   |   Total Effect = +0.1134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 Change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Chg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(0.04072, 8.201]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0.152200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-0.047800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0.159001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0.105001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-0.002581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0.015981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0.013400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(13.38, 18.67]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893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0.178600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-0.021400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0.178052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0.127052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-0.001091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0.022691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(18.67, 25.56]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0.203800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0.003800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0.161923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0.094923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0.000255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0.019345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0.019600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(25.56, 58.87]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1430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0.286000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0.086000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0.063000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0.197902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0.134902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0.005418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0.038582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0.044000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(8.201, 13.38]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897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0.179400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-0.020600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0.055000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0.143813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0.088813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-0.001133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0.015933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0.014800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0.000868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0.112532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  <a:latin typeface="Calibri"/>
              </a:defRPr>
            </a:pPr>
            <a:r>
              <a:t>Detail: employment_years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Mix Effect = -0.0000   |   Total Rate Effect = +0.1134   |   Total Effect = +0.1134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 Change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Chg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(-1e-08, 1.2]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0.215200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0.217600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0.002400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0.052974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0.164522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0.111548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0.000127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0.024273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0.024400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(1.2, 2.7]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988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0.197600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0.002400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0.071862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0.109138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0.000172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0.021828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(2.7, 4.6]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0.187400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-0.009400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0.058698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0.191011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0.132313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0.023552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0.023000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(4.6, 8]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1012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982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0.202400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0.196400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-0.006000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0.054348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0.165988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0.111640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-0.000326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0.021926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(8, 40]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0.197400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0.208000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0.010600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0.052685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0.157692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0.105007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0.000558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0.021842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0.022400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-0.000021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0.113421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  <a:latin typeface="Calibri"/>
              </a:defRPr>
            </a:pPr>
            <a:r>
              <a:t>Detail: income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Mix Effect = +0.0001   |   Total Rate Effect = +0.1133   |   Total Effect = +0.1134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 Change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Chg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(3.972e+04, 5.279e+04]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946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0.189200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-0.010800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0.164905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0.107905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-0.000616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0.020416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0.019800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(5.279e+04, 6.707e+04]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937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0.187400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-0.012600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0.056000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0.169691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0.113691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-0.000706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0.021306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0.020600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(6.707e+04, 9.007e+04]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0.006000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0.182524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0.122524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0.000360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0.025240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0.025600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(8490, 3.972e+04]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1060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0.212000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0.012000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0.063000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0.174528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0.111528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0.000756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0.023644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0.024400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(9.007e+04, 3.866e+05]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0.205400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0.005400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0.054000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0.164557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0.110557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0.000292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0.022708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0.023000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0.000086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0.113314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F3A5F"/>
                </a:solidFill>
                <a:latin typeface="Calibri"/>
              </a:defRPr>
            </a:pPr>
            <a:r>
              <a:t>Detail: loan_amount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  <a:latin typeface="Calibri"/>
              </a:defRPr>
            </a:pPr>
            <a:r>
              <a:t>Total Mix Effect = -0.0001   |   Total Rate Effect = +0.1135   |   Total Effect = +0.1134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0" y="1188720"/>
          <a:ext cx="566928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  <a:gridCol w="9677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Bucket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n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Wt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Wt Change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 Rate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Chg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Mix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Effect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(2.193e+04, 3.135e+04]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0.213600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0.013600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0.047000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0.173221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0.126221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0.000639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0.026961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0.027600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(2609, 2.193e+04]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973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0.194600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-0.005400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0.155190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0.094190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-0.000329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0.018329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0.018000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(3.135e+04, 4.174e+04]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0.194800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-0.005200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0.178645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0.127645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-0.000265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0.024865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0.024600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(4.174e+04, 6.042e+04]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1035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0.207000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0.007000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0.070000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0.170048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0.100048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0.000490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0.020710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0.021200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(6.042e+04, 4.066e+05]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0.200000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0.190000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0.061000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0.180000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0.119000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0.022000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1.00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0.000000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0.058000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0.171400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-0.000075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0.113475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Calibri"/>
                        </a:defRPr>
                      </a:pPr>
                      <a:r>
                        <a:t>0.113400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F3A5F"/>
                </a:solidFill>
                <a:latin typeface="Calibri"/>
              </a:defRPr>
            </a:pPr>
            <a:r>
              <a:t>Feature Importance (from model)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097280"/>
          <a:ext cx="64008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0" y="1371600"/>
          <a:ext cx="4114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Importance %</a:t>
                      </a:r>
                    </a:p>
                  </a:txBody>
                  <a:tcPr anchor="ctr">
                    <a:solidFill>
                      <a:srgbClr val="2C3E6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credit_score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18.10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ltv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15.91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income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15.50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dti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15.38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14.47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employment_years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12.78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loan_term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4.12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loan_purpose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2.13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region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1.60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